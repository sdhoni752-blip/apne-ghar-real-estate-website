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946" y="-23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15/10/2026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2700" y="-7144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2000" y="-7144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15/10/2026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25356" y="202408"/>
            <a:ext cx="12240731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9020836" y="932688"/>
            <a:ext cx="3017520" cy="3017520"/>
          </a:xfrm>
          <a:prstGeom prst="ellipse">
            <a:avLst/>
          </a:prstGeom>
          <a:solidFill>
            <a:srgbClr val="E6A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4114800"/>
            <a:ext cx="1828800" cy="1828800"/>
          </a:xfrm>
          <a:prstGeom prst="ellipse">
            <a:avLst/>
          </a:prstGeom>
          <a:solidFill>
            <a:srgbClr val="22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7223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1" i="0">
                <a:solidFill>
                  <a:srgbClr val="E6AE4F"/>
                </a:solidFill>
                <a:latin typeface="Aptos"/>
              </a:defRPr>
            </a:pPr>
            <a:r>
              <a:t>PROPERTY • PEOPLE •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3152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3800" b="1" i="0">
                <a:solidFill>
                  <a:srgbClr val="FFFFFF"/>
                </a:solidFill>
                <a:latin typeface="Aptos"/>
              </a:defRPr>
            </a:pPr>
            <a:r>
              <a:t>APNA GHAR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93392"/>
            <a:ext cx="7132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300" b="1" i="0">
                <a:solidFill>
                  <a:srgbClr val="FFFFFF"/>
                </a:solidFill>
                <a:latin typeface="Aptos"/>
              </a:defRPr>
            </a:pPr>
            <a:r>
              <a:t>भारतीय Real Estate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65836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700" b="0" i="0">
                <a:solidFill>
                  <a:srgbClr val="DEE8EF"/>
                </a:solidFill>
                <a:latin typeface="Aptos"/>
              </a:defRPr>
            </a:pPr>
            <a:r>
              <a:t>A role-based platform for property listings, rental applications,</a:t>
            </a:r>
          </a:p>
          <a:p>
            <a:pPr algn="l">
              <a:spcAft>
                <a:spcPts val="600"/>
              </a:spcAft>
              <a:defRPr sz="1700" b="0" i="0">
                <a:solidFill>
                  <a:srgbClr val="DEE8EF"/>
                </a:solidFill>
                <a:latin typeface="Aptos"/>
              </a:defRPr>
            </a:pPr>
            <a:r>
              <a:t>tenancy management and administration.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6675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1" i="0">
                <a:solidFill>
                  <a:srgbClr val="E6AE4F"/>
                </a:solidFill>
                <a:latin typeface="Aptos"/>
              </a:defRPr>
            </a:pPr>
            <a:r>
              <a:t>Admin  •  Property Manager  •  Tenant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63440"/>
            <a:ext cx="676656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FFFFFF"/>
                </a:solidFill>
                <a:latin typeface="Aptos"/>
              </a:defRPr>
            </a:pPr>
            <a:r>
              <a:t>PROJECT TEAM</a:t>
            </a:r>
          </a:p>
          <a:p>
            <a:pPr algn="l">
              <a:spcAft>
                <a:spcPts val="600"/>
              </a:spcAft>
              <a:defRPr sz="1200" b="0" i="0">
                <a:solidFill>
                  <a:srgbClr val="FFFFFF"/>
                </a:solidFill>
                <a:latin typeface="Aptos"/>
              </a:defRPr>
            </a:pPr>
            <a:r>
              <a:t>Rajat Yadav  —  Leader  |  25scse1011260</a:t>
            </a:r>
          </a:p>
          <a:p>
            <a:pPr algn="l">
              <a:spcAft>
                <a:spcPts val="600"/>
              </a:spcAft>
              <a:defRPr sz="1200" b="0" i="0">
                <a:solidFill>
                  <a:srgbClr val="FFFFFF"/>
                </a:solidFill>
                <a:latin typeface="Aptos"/>
              </a:defRPr>
            </a:pPr>
            <a:r>
              <a:t>Vikram Kumar  —  Member  |  25scse1011290</a:t>
            </a:r>
          </a:p>
          <a:p>
            <a:pPr algn="l">
              <a:spcAft>
                <a:spcPts val="600"/>
              </a:spcAft>
              <a:defRPr sz="1200" b="0" i="0">
                <a:solidFill>
                  <a:srgbClr val="FFFFFF"/>
                </a:solidFill>
                <a:latin typeface="Aptos"/>
              </a:defRPr>
            </a:pPr>
            <a:r>
              <a:t>Dhoni Kumar Singh  —  Member  |  25scse1011292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36208"/>
            <a:ext cx="4572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900" b="1" i="0">
                <a:solidFill>
                  <a:srgbClr val="B9CAD8"/>
                </a:solidFill>
                <a:latin typeface="Aptos"/>
              </a:defRPr>
            </a:pPr>
            <a:r>
              <a:t>PROJECT PRESENTATION</a:t>
            </a:r>
          </a:p>
        </p:txBody>
      </p:sp>
      <p:pic>
        <p:nvPicPr>
          <p:cNvPr id="12" name="Picture 11" descr="Screenshot 2026-10-15 2216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6319" y="729282"/>
            <a:ext cx="3535681" cy="371694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000" b="1" i="0">
                <a:solidFill>
                  <a:srgbClr val="128B89"/>
                </a:solidFill>
                <a:latin typeface="Aptos"/>
              </a:defRPr>
            </a:pPr>
            <a:r>
              <a:t>01  • 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142740"/>
                </a:solidFill>
                <a:latin typeface="Aptos"/>
              </a:defRPr>
            </a:pPr>
            <a:r>
              <a:t>Why a unified real-estate workflow is useful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637381"/>
                </a:solidFill>
                <a:latin typeface="Aptos"/>
              </a:defRPr>
            </a:pPr>
            <a:r>
              <a:t>Three operational gaps the platform is designed to address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  <a:defRPr sz="900" b="1" i="0">
                <a:solidFill>
                  <a:srgbClr val="637381"/>
                </a:solidFill>
                <a:latin typeface="Aptos"/>
              </a:defRPr>
            </a:pPr>
            <a:r>
              <a:t>APNA GHAR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86868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637381"/>
                </a:solidFill>
                <a:latin typeface="Aptos"/>
              </a:defRPr>
            </a:pPr>
            <a:r>
              <a:t>02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55680" cy="22860"/>
          </a:xfrm>
          <a:prstGeom prst="rect">
            <a:avLst/>
          </a:prstGeom>
          <a:solidFill>
            <a:srgbClr val="12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3520440" cy="2240280"/>
          </a:xfrm>
          <a:prstGeom prst="roundRect">
            <a:avLst/>
          </a:prstGeom>
          <a:solidFill>
            <a:srgbClr val="F2F7F8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258568"/>
            <a:ext cx="54864" cy="2020824"/>
          </a:xfrm>
          <a:prstGeom prst="rect">
            <a:avLst/>
          </a:prstGeom>
          <a:solidFill>
            <a:srgbClr val="12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2331720"/>
            <a:ext cx="31363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142740"/>
                </a:solidFill>
                <a:latin typeface="Aptos"/>
              </a:defRPr>
            </a:pPr>
            <a:r>
              <a:t>Fragmented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07208"/>
            <a:ext cx="3136392" cy="1472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263240"/>
                </a:solidFill>
                <a:latin typeface="Aptos"/>
              </a:defRPr>
            </a:pPr>
            <a:r>
              <a:t>Property details, tenant applications, agreements and communication can be scattered across separate tools.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48840"/>
            <a:ext cx="3520440" cy="2240280"/>
          </a:xfrm>
          <a:prstGeom prst="roundRect">
            <a:avLst/>
          </a:prstGeom>
          <a:solidFill>
            <a:srgbClr val="F2F7F8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2258568"/>
            <a:ext cx="54864" cy="2020824"/>
          </a:xfrm>
          <a:prstGeom prst="rect">
            <a:avLst/>
          </a:prstGeom>
          <a:solidFill>
            <a:srgbClr val="E6A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331720"/>
            <a:ext cx="31363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142740"/>
                </a:solidFill>
                <a:latin typeface="Aptos"/>
              </a:defRPr>
            </a:pPr>
            <a:r>
              <a:t>Manual coordination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807208"/>
            <a:ext cx="3136392" cy="1472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263240"/>
                </a:solidFill>
                <a:latin typeface="Aptos"/>
              </a:defRPr>
            </a:pPr>
            <a:r>
              <a:t>Managers need a clear way to review applications, maintain listing status and respond to tenants.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48840"/>
            <a:ext cx="3520440" cy="2240280"/>
          </a:xfrm>
          <a:prstGeom prst="roundRect">
            <a:avLst/>
          </a:prstGeom>
          <a:solidFill>
            <a:srgbClr val="F2F7F8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2258568"/>
            <a:ext cx="54864" cy="2020824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2331720"/>
            <a:ext cx="31363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142740"/>
                </a:solidFill>
                <a:latin typeface="Aptos"/>
              </a:defRPr>
            </a:pPr>
            <a:r>
              <a:t>Limited oversight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807208"/>
            <a:ext cx="3136392" cy="1472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263240"/>
                </a:solidFill>
                <a:latin typeface="Aptos"/>
              </a:defRPr>
            </a:pPr>
            <a:r>
              <a:t>Administrators need visibility into user roles, listing approvals, settings and platform activity.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09160"/>
            <a:ext cx="10927080" cy="1051560"/>
          </a:xfrm>
          <a:prstGeom prst="roundRect">
            <a:avLst/>
          </a:prstGeom>
          <a:solidFill>
            <a:srgbClr val="F2F7F8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4818888"/>
            <a:ext cx="54864" cy="832103"/>
          </a:xfrm>
          <a:prstGeom prst="rect">
            <a:avLst/>
          </a:prstGeom>
          <a:solidFill>
            <a:srgbClr val="12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4892040"/>
            <a:ext cx="105430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142740"/>
                </a:solidFill>
                <a:latin typeface="Aptos"/>
              </a:defRPr>
            </a:pPr>
            <a:r>
              <a:t>Project 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5367528"/>
            <a:ext cx="10543032" cy="28346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263240"/>
                </a:solidFill>
                <a:latin typeface="Aptos"/>
              </a:defRPr>
            </a:pPr>
            <a:r>
              <a:t>Bring the core rental lifecycle into one browser-based interface with role-specific views and a consistent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000" b="1" i="0">
                <a:solidFill>
                  <a:srgbClr val="128B89"/>
                </a:solidFill>
                <a:latin typeface="Aptos"/>
              </a:defRPr>
            </a:pPr>
            <a:r>
              <a:t>02  •  OBJECTIVES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142740"/>
                </a:solidFill>
                <a:latin typeface="Aptos"/>
              </a:defRPr>
            </a:pPr>
            <a:r>
              <a:t>The prototype demonstrates the main roles and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637381"/>
                </a:solidFill>
                <a:latin typeface="Aptos"/>
              </a:defRPr>
            </a:pPr>
            <a:r>
              <a:t>A centralized interface for property operations and tenancy coordination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  <a:defRPr sz="900" b="1" i="0">
                <a:solidFill>
                  <a:srgbClr val="637381"/>
                </a:solidFill>
                <a:latin typeface="Aptos"/>
              </a:defRPr>
            </a:pPr>
            <a:r>
              <a:t>APNA GHAR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86868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637381"/>
                </a:solidFill>
                <a:latin typeface="Aptos"/>
              </a:defRPr>
            </a:pPr>
            <a:r>
              <a:t>03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55680" cy="22860"/>
          </a:xfrm>
          <a:prstGeom prst="rect">
            <a:avLst/>
          </a:prstGeom>
          <a:solidFill>
            <a:srgbClr val="12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3520440" cy="1600200"/>
          </a:xfrm>
          <a:prstGeom prst="roundRect">
            <a:avLst/>
          </a:prstGeom>
          <a:solidFill>
            <a:srgbClr val="F2F7F8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167128"/>
            <a:ext cx="54864" cy="1380744"/>
          </a:xfrm>
          <a:prstGeom prst="rect">
            <a:avLst/>
          </a:prstGeom>
          <a:solidFill>
            <a:srgbClr val="12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2240280"/>
            <a:ext cx="31363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142740"/>
                </a:solidFill>
                <a:latin typeface="Aptos"/>
              </a:defRPr>
            </a:pPr>
            <a:r>
              <a:t>Centralize listings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715768"/>
            <a:ext cx="3136392" cy="8321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263240"/>
                </a:solidFill>
                <a:latin typeface="Aptos"/>
              </a:defRPr>
            </a:pPr>
            <a:r>
              <a:t>Create, search, review and manage property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057400"/>
            <a:ext cx="3520440" cy="1600200"/>
          </a:xfrm>
          <a:prstGeom prst="roundRect">
            <a:avLst/>
          </a:prstGeom>
          <a:solidFill>
            <a:srgbClr val="F2F7F8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2167128"/>
            <a:ext cx="54864" cy="1380744"/>
          </a:xfrm>
          <a:prstGeom prst="rect">
            <a:avLst/>
          </a:prstGeom>
          <a:solidFill>
            <a:srgbClr val="E6A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240280"/>
            <a:ext cx="31363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142740"/>
                </a:solidFill>
                <a:latin typeface="Aptos"/>
              </a:defRPr>
            </a:pPr>
            <a:r>
              <a:t>Support tenancy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715768"/>
            <a:ext cx="3136392" cy="8321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263240"/>
                </a:solidFill>
                <a:latin typeface="Aptos"/>
              </a:defRPr>
            </a:pPr>
            <a:r>
              <a:t>Represent rental applications, agreements and tenant communication.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57400"/>
            <a:ext cx="3520440" cy="1600200"/>
          </a:xfrm>
          <a:prstGeom prst="roundRect">
            <a:avLst/>
          </a:prstGeom>
          <a:solidFill>
            <a:srgbClr val="F2F7F8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2167128"/>
            <a:ext cx="54864" cy="1380744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2240280"/>
            <a:ext cx="31363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142740"/>
                </a:solidFill>
                <a:latin typeface="Aptos"/>
              </a:defRPr>
            </a:pPr>
            <a:r>
              <a:t>Enable oversight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715768"/>
            <a:ext cx="3136392" cy="8321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263240"/>
                </a:solidFill>
                <a:latin typeface="Aptos"/>
              </a:defRPr>
            </a:pPr>
            <a:r>
              <a:t>Provide user management, platform settings and activity views for Admin.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69080"/>
            <a:ext cx="3520440" cy="1600200"/>
          </a:xfrm>
          <a:prstGeom prst="roundRect">
            <a:avLst/>
          </a:prstGeom>
          <a:solidFill>
            <a:srgbClr val="F2F7F8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4178808"/>
            <a:ext cx="54864" cy="1380744"/>
          </a:xfrm>
          <a:prstGeom prst="rect">
            <a:avLst/>
          </a:prstGeom>
          <a:solidFill>
            <a:srgbClr val="12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4251960"/>
            <a:ext cx="31363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142740"/>
                </a:solidFill>
                <a:latin typeface="Aptos"/>
              </a:defRPr>
            </a:pPr>
            <a:r>
              <a:t>Role-aware navigation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727448"/>
            <a:ext cx="3136392" cy="8321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263240"/>
                </a:solidFill>
                <a:latin typeface="Aptos"/>
              </a:defRPr>
            </a:pPr>
            <a:r>
              <a:t>Admin, Property Manager and Tenant see different dashboards and actions.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4069080"/>
            <a:ext cx="3520440" cy="1600200"/>
          </a:xfrm>
          <a:prstGeom prst="roundRect">
            <a:avLst/>
          </a:prstGeom>
          <a:solidFill>
            <a:srgbClr val="F2F7F8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43400" y="4178808"/>
            <a:ext cx="54864" cy="1380744"/>
          </a:xfrm>
          <a:prstGeom prst="rect">
            <a:avLst/>
          </a:prstGeom>
          <a:solidFill>
            <a:srgbClr val="E6A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44568" y="4251960"/>
            <a:ext cx="31363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142740"/>
                </a:solidFill>
                <a:latin typeface="Aptos"/>
              </a:defRPr>
            </a:pPr>
            <a:r>
              <a:t>Indian 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4727448"/>
            <a:ext cx="3136392" cy="8321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263240"/>
                </a:solidFill>
                <a:latin typeface="Aptos"/>
              </a:defRPr>
            </a:pPr>
            <a:r>
              <a:t>Interface uses Indian cities, ₹ currency and India-focused tenancy terminology.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4069080"/>
            <a:ext cx="3520440" cy="1600200"/>
          </a:xfrm>
          <a:prstGeom prst="roundRect">
            <a:avLst/>
          </a:prstGeom>
          <a:solidFill>
            <a:srgbClr val="F2F7F8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46720" y="4178808"/>
            <a:ext cx="54864" cy="1380744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47888" y="4251960"/>
            <a:ext cx="31363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142740"/>
                </a:solidFill>
                <a:latin typeface="Aptos"/>
              </a:defRPr>
            </a:pPr>
            <a:r>
              <a:t>Demonstration 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4727448"/>
            <a:ext cx="3136392" cy="8321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263240"/>
                </a:solidFill>
                <a:latin typeface="Aptos"/>
              </a:defRPr>
            </a:pPr>
            <a:r>
              <a:t>Current project is a React/TypeScript frontend prototype with demo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000" b="1" i="0">
                <a:solidFill>
                  <a:srgbClr val="128B89"/>
                </a:solidFill>
                <a:latin typeface="Aptos"/>
              </a:defRPr>
            </a:pPr>
            <a:r>
              <a:t>03  • 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142740"/>
                </a:solidFill>
                <a:latin typeface="Aptos"/>
              </a:defRPr>
            </a:pPr>
            <a:r>
              <a:t>Technology stack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637381"/>
                </a:solidFill>
                <a:latin typeface="Aptos"/>
              </a:defRPr>
            </a:pPr>
            <a:r>
              <a:t>Current implementation as represented by the project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  <a:defRPr sz="900" b="1" i="0">
                <a:solidFill>
                  <a:srgbClr val="637381"/>
                </a:solidFill>
                <a:latin typeface="Aptos"/>
              </a:defRPr>
            </a:pPr>
            <a:r>
              <a:t>APNA GHAR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86868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637381"/>
                </a:solidFill>
                <a:latin typeface="Aptos"/>
              </a:defRPr>
            </a:pPr>
            <a:r>
              <a:t>04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55680" cy="22860"/>
          </a:xfrm>
          <a:prstGeom prst="rect">
            <a:avLst/>
          </a:prstGeom>
          <a:solidFill>
            <a:srgbClr val="12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3520440" cy="1508760"/>
          </a:xfrm>
          <a:prstGeom prst="roundRect">
            <a:avLst/>
          </a:prstGeom>
          <a:solidFill>
            <a:srgbClr val="F2F7F8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54864" cy="1289304"/>
          </a:xfrm>
          <a:prstGeom prst="rect">
            <a:avLst/>
          </a:prstGeom>
          <a:solidFill>
            <a:srgbClr val="12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2148840"/>
            <a:ext cx="31363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142740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624328"/>
            <a:ext cx="3136392" cy="740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263240"/>
                </a:solidFill>
                <a:latin typeface="Aptos"/>
              </a:defRPr>
            </a:pPr>
            <a:r>
              <a:t>React + TypeScript components</a:t>
            </a:r>
          </a:p>
          <a:p>
            <a:pPr algn="l">
              <a:spcAft>
                <a:spcPts val="600"/>
              </a:spcAft>
              <a:defRPr sz="1200" b="0" i="0">
                <a:solidFill>
                  <a:srgbClr val="263240"/>
                </a:solidFill>
                <a:latin typeface="Aptos"/>
              </a:defRPr>
            </a:pPr>
            <a:r>
              <a:t>Vite development server</a:t>
            </a:r>
          </a:p>
          <a:p>
            <a:pPr algn="l">
              <a:spcAft>
                <a:spcPts val="600"/>
              </a:spcAft>
              <a:defRPr sz="1200" b="0" i="0">
                <a:solidFill>
                  <a:srgbClr val="263240"/>
                </a:solidFill>
                <a:latin typeface="Aptos"/>
              </a:defRPr>
            </a:pPr>
            <a:r>
              <a:t>CSS styling and modal workflows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965960"/>
            <a:ext cx="3520440" cy="1508760"/>
          </a:xfrm>
          <a:prstGeom prst="roundRect">
            <a:avLst/>
          </a:prstGeom>
          <a:solidFill>
            <a:srgbClr val="F2F7F8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2075688"/>
            <a:ext cx="54864" cy="1289304"/>
          </a:xfrm>
          <a:prstGeom prst="rect">
            <a:avLst/>
          </a:prstGeom>
          <a:solidFill>
            <a:srgbClr val="E6A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148840"/>
            <a:ext cx="31363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142740"/>
                </a:solidFill>
                <a:latin typeface="Aptos"/>
              </a:defRPr>
            </a:pPr>
            <a:r>
              <a:t>UI /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624328"/>
            <a:ext cx="3136392" cy="740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263240"/>
                </a:solidFill>
                <a:latin typeface="Aptos"/>
              </a:defRPr>
            </a:pPr>
            <a:r>
              <a:t>Role-based dashboard views</a:t>
            </a:r>
          </a:p>
          <a:p>
            <a:pPr algn="l">
              <a:spcAft>
                <a:spcPts val="600"/>
              </a:spcAft>
              <a:defRPr sz="1200" b="0" i="0">
                <a:solidFill>
                  <a:srgbClr val="263240"/>
                </a:solidFill>
                <a:latin typeface="Aptos"/>
              </a:defRPr>
            </a:pPr>
            <a:r>
              <a:t>Shared React context</a:t>
            </a:r>
          </a:p>
          <a:p>
            <a:pPr algn="l">
              <a:spcAft>
                <a:spcPts val="600"/>
              </a:spcAft>
              <a:defRPr sz="1200" b="0" i="0">
                <a:solidFill>
                  <a:srgbClr val="263240"/>
                </a:solidFill>
                <a:latin typeface="Aptos"/>
              </a:defRPr>
            </a:pPr>
            <a:r>
              <a:t>Demo data and browser-side state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65960"/>
            <a:ext cx="3520440" cy="1508760"/>
          </a:xfrm>
          <a:prstGeom prst="roundRect">
            <a:avLst/>
          </a:prstGeom>
          <a:solidFill>
            <a:srgbClr val="F2F7F8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2075688"/>
            <a:ext cx="54864" cy="1289304"/>
          </a:xfrm>
          <a:prstGeom prst="rect">
            <a:avLst/>
          </a:prstGeom>
          <a:solidFill>
            <a:srgbClr val="14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2148840"/>
            <a:ext cx="313639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142740"/>
                </a:solidFill>
                <a:latin typeface="Aptos"/>
              </a:defRPr>
            </a:pPr>
            <a:r>
              <a:t>Persistence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624328"/>
            <a:ext cx="3136392" cy="740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263240"/>
                </a:solidFill>
                <a:latin typeface="Aptos"/>
              </a:defRPr>
            </a:pPr>
            <a:r>
              <a:t>Frontend state / browser storage patterns</a:t>
            </a:r>
          </a:p>
          <a:p>
            <a:pPr algn="l">
              <a:spcAft>
                <a:spcPts val="600"/>
              </a:spcAft>
              <a:defRPr sz="1200" b="0" i="0">
                <a:solidFill>
                  <a:srgbClr val="263240"/>
                </a:solidFill>
                <a:latin typeface="Aptos"/>
              </a:defRPr>
            </a:pPr>
            <a:r>
              <a:t>Production backend and database are future work.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977639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100" b="1" i="0">
                <a:solidFill>
                  <a:srgbClr val="128B89"/>
                </a:solidFill>
                <a:latin typeface="Aptos"/>
              </a:defRPr>
            </a:pPr>
            <a:r>
              <a:t>ARCHITECTURE 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17720"/>
            <a:ext cx="1965960" cy="822960"/>
          </a:xfrm>
          <a:prstGeom prst="roundRect">
            <a:avLst/>
          </a:prstGeom>
          <a:solidFill>
            <a:srgbClr val="F2F7F8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4782312"/>
            <a:ext cx="1819656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142740"/>
                </a:solidFill>
                <a:latin typeface="Aptos"/>
              </a:defRPr>
            </a:pPr>
            <a:r>
              <a:t>User / Browser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4617720"/>
            <a:ext cx="1965960" cy="822960"/>
          </a:xfrm>
          <a:prstGeom prst="roundRect">
            <a:avLst/>
          </a:prstGeom>
          <a:solidFill>
            <a:srgbClr val="F2F7F8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93592" y="4782312"/>
            <a:ext cx="1819656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142740"/>
                </a:solidFill>
                <a:latin typeface="Aptos"/>
              </a:defRPr>
            </a:pPr>
            <a:r>
              <a:t>React UI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617720"/>
            <a:ext cx="1965960" cy="822960"/>
          </a:xfrm>
          <a:prstGeom prst="roundRect">
            <a:avLst/>
          </a:prstGeom>
          <a:solidFill>
            <a:srgbClr val="F2F7F8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82512" y="4782312"/>
            <a:ext cx="1819656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142740"/>
                </a:solidFill>
                <a:latin typeface="Aptos"/>
              </a:defRPr>
            </a:pPr>
            <a:r>
              <a:t>Context + Demo 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4617720"/>
            <a:ext cx="1965960" cy="822960"/>
          </a:xfrm>
          <a:prstGeom prst="roundRect">
            <a:avLst/>
          </a:prstGeom>
          <a:solidFill>
            <a:srgbClr val="F2F7F8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08592" y="4782312"/>
            <a:ext cx="1819656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600"/>
              </a:spcAft>
              <a:defRPr sz="1300" b="1" i="0">
                <a:solidFill>
                  <a:srgbClr val="142740"/>
                </a:solidFill>
                <a:latin typeface="Aptos"/>
              </a:defRPr>
            </a:pPr>
            <a:r>
              <a:t>Future API + 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16352" y="4782312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200" b="1" i="0">
                <a:solidFill>
                  <a:srgbClr val="128B8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05272" y="4782312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200" b="1" i="0">
                <a:solidFill>
                  <a:srgbClr val="128B8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1352" y="4782312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200" b="1" i="0">
                <a:solidFill>
                  <a:srgbClr val="128B89"/>
                </a:solidFill>
                <a:latin typeface="Aptos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000" b="1" i="0">
                <a:solidFill>
                  <a:srgbClr val="128B89"/>
                </a:solidFill>
                <a:latin typeface="Aptos"/>
              </a:defRPr>
            </a:pPr>
            <a:r>
              <a:t>04  • 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142740"/>
                </a:solidFill>
                <a:latin typeface="Aptos"/>
              </a:defRPr>
            </a:pPr>
            <a:r>
              <a:t>Authentication &amp; role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637381"/>
                </a:solidFill>
                <a:latin typeface="Aptos"/>
              </a:defRPr>
            </a:pPr>
            <a:r>
              <a:t>The portal presents predefined stakeholder accounts and a registration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  <a:defRPr sz="900" b="1" i="0">
                <a:solidFill>
                  <a:srgbClr val="637381"/>
                </a:solidFill>
                <a:latin typeface="Aptos"/>
              </a:defRPr>
            </a:pPr>
            <a:r>
              <a:t>APNA GHAR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86868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637381"/>
                </a:solidFill>
                <a:latin typeface="Aptos"/>
              </a:defRPr>
            </a:pPr>
            <a:r>
              <a:t>05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55680" cy="22860"/>
          </a:xfrm>
          <a:prstGeom prst="rect">
            <a:avLst/>
          </a:prstGeom>
          <a:solidFill>
            <a:srgbClr val="12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_apna_p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6675120" cy="37490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2057400"/>
            <a:ext cx="3794760" cy="1417320"/>
          </a:xfrm>
          <a:prstGeom prst="roundRect">
            <a:avLst/>
          </a:prstGeom>
          <a:solidFill>
            <a:srgbClr val="F2F7F8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35240" y="2167128"/>
            <a:ext cx="54864" cy="1197864"/>
          </a:xfrm>
          <a:prstGeom prst="rect">
            <a:avLst/>
          </a:prstGeom>
          <a:solidFill>
            <a:srgbClr val="12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36408" y="2240280"/>
            <a:ext cx="34107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142740"/>
                </a:solidFill>
                <a:latin typeface="Aptos"/>
              </a:defRPr>
            </a:pPr>
            <a:r>
              <a:t>Sign-in / role switching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2715768"/>
            <a:ext cx="3410712" cy="6492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263240"/>
                </a:solidFill>
                <a:latin typeface="Aptos"/>
              </a:defRPr>
            </a:pPr>
            <a:r>
              <a:t>Predefined stakeholder accounts let users explore role-specific dashboards.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3749039"/>
            <a:ext cx="3794760" cy="1417320"/>
          </a:xfrm>
          <a:prstGeom prst="roundRect">
            <a:avLst/>
          </a:prstGeom>
          <a:solidFill>
            <a:srgbClr val="F2F7F8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35240" y="3858768"/>
            <a:ext cx="54864" cy="1197864"/>
          </a:xfrm>
          <a:prstGeom prst="rect">
            <a:avLst/>
          </a:prstGeom>
          <a:solidFill>
            <a:srgbClr val="E6A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8" y="3931920"/>
            <a:ext cx="34107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142740"/>
                </a:solidFill>
                <a:latin typeface="Aptos"/>
              </a:defRPr>
            </a:pPr>
            <a:r>
              <a:t>New user registration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4407407"/>
            <a:ext cx="3410712" cy="6492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263240"/>
                </a:solidFill>
                <a:latin typeface="Aptos"/>
              </a:defRPr>
            </a:pPr>
            <a:r>
              <a:t>A registration form represents the entry point for new users.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000" b="1" i="0">
                <a:solidFill>
                  <a:srgbClr val="128B89"/>
                </a:solidFill>
                <a:latin typeface="Aptos"/>
              </a:defRPr>
            </a:pPr>
            <a:r>
              <a:t>05  •  PROPERTY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142740"/>
                </a:solidFill>
                <a:latin typeface="Aptos"/>
              </a:defRPr>
            </a:pPr>
            <a:r>
              <a:t>Property Manager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637381"/>
                </a:solidFill>
                <a:latin typeface="Aptos"/>
              </a:defRPr>
            </a:pPr>
            <a:r>
              <a:t>Listing operations, agreements, tenant communication and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  <a:defRPr sz="900" b="1" i="0">
                <a:solidFill>
                  <a:srgbClr val="637381"/>
                </a:solidFill>
                <a:latin typeface="Aptos"/>
              </a:defRPr>
            </a:pPr>
            <a:r>
              <a:t>APNA GHAR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86868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637381"/>
                </a:solidFill>
                <a:latin typeface="Aptos"/>
              </a:defRPr>
            </a:pPr>
            <a:r>
              <a:t>06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55680" cy="22860"/>
          </a:xfrm>
          <a:prstGeom prst="rect">
            <a:avLst/>
          </a:prstGeom>
          <a:solidFill>
            <a:srgbClr val="12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_apna_p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6720840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1965960"/>
            <a:ext cx="3794760" cy="3246120"/>
          </a:xfrm>
          <a:prstGeom prst="roundRect">
            <a:avLst/>
          </a:prstGeom>
          <a:solidFill>
            <a:srgbClr val="F2F7F8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35240" y="2075688"/>
            <a:ext cx="54864" cy="3026663"/>
          </a:xfrm>
          <a:prstGeom prst="rect">
            <a:avLst/>
          </a:prstGeom>
          <a:solidFill>
            <a:srgbClr val="12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36408" y="2148840"/>
            <a:ext cx="34107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142740"/>
                </a:solidFill>
                <a:latin typeface="Aptos"/>
              </a:defRPr>
            </a:pPr>
            <a:r>
              <a:t>Manager workflows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2624328"/>
            <a:ext cx="3410712" cy="24780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263240"/>
                </a:solidFill>
                <a:latin typeface="Aptos"/>
              </a:defRPr>
            </a:pPr>
            <a:r>
              <a:t>• Create and edit listings</a:t>
            </a:r>
          </a:p>
          <a:p>
            <a:pPr algn="l">
              <a:spcAft>
                <a:spcPts val="600"/>
              </a:spcAft>
              <a:defRPr sz="1300" b="0" i="0">
                <a:solidFill>
                  <a:srgbClr val="263240"/>
                </a:solidFill>
                <a:latin typeface="Aptos"/>
              </a:defRPr>
            </a:pPr>
            <a:r>
              <a:t>• Track rental agreements</a:t>
            </a:r>
          </a:p>
          <a:p>
            <a:pPr algn="l">
              <a:spcAft>
                <a:spcPts val="600"/>
              </a:spcAft>
              <a:defRPr sz="1300" b="0" i="0">
                <a:solidFill>
                  <a:srgbClr val="263240"/>
                </a:solidFill>
                <a:latin typeface="Aptos"/>
              </a:defRPr>
            </a:pPr>
            <a:r>
              <a:t>• Review applications</a:t>
            </a:r>
          </a:p>
          <a:p>
            <a:pPr algn="l">
              <a:spcAft>
                <a:spcPts val="600"/>
              </a:spcAft>
              <a:defRPr sz="1300" b="0" i="0">
                <a:solidFill>
                  <a:srgbClr val="263240"/>
                </a:solidFill>
                <a:latin typeface="Aptos"/>
              </a:defRPr>
            </a:pPr>
            <a:r>
              <a:t>• Communicate with tenants</a:t>
            </a:r>
          </a:p>
          <a:p>
            <a:pPr algn="l">
              <a:spcAft>
                <a:spcPts val="600"/>
              </a:spcAft>
              <a:defRPr sz="1300" b="0" i="0">
                <a:solidFill>
                  <a:srgbClr val="263240"/>
                </a:solidFill>
                <a:latin typeface="Aptos"/>
              </a:defRPr>
            </a:pPr>
            <a:r>
              <a:t>• View listing analytics</a:t>
            </a:r>
          </a:p>
          <a:p>
            <a:pPr algn="l">
              <a:spcAft>
                <a:spcPts val="600"/>
              </a:spcAft>
              <a:defRPr sz="1300" b="0" i="0">
                <a:solidFill>
                  <a:srgbClr val="263240"/>
                </a:solidFill>
                <a:latin typeface="Aptos"/>
              </a:defRPr>
            </a:pPr>
            <a:r>
              <a:t>• Edit existing property details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000" b="1" i="0">
                <a:solidFill>
                  <a:srgbClr val="128B89"/>
                </a:solidFill>
                <a:latin typeface="Aptos"/>
              </a:defRPr>
            </a:pPr>
            <a:r>
              <a:rPr dirty="0"/>
              <a:t>06  •  ADMIN OVERSIGHT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142740"/>
                </a:solidFill>
                <a:latin typeface="Aptos"/>
              </a:defRPr>
            </a:pPr>
            <a:r>
              <a:t>Property listing oversight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637381"/>
                </a:solidFill>
                <a:latin typeface="Aptos"/>
              </a:defRPr>
            </a:pPr>
            <a:r>
              <a:t>Review submissions and monitor listing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  <a:defRPr sz="900" b="1" i="0">
                <a:solidFill>
                  <a:srgbClr val="637381"/>
                </a:solidFill>
                <a:latin typeface="Aptos"/>
              </a:defRPr>
            </a:pPr>
            <a:r>
              <a:t>APNA GHAR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86868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637381"/>
                </a:solidFill>
                <a:latin typeface="Aptos"/>
              </a:defRPr>
            </a:pPr>
            <a:r>
              <a:t>07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55680" cy="22860"/>
          </a:xfrm>
          <a:prstGeom prst="rect">
            <a:avLst/>
          </a:prstGeom>
          <a:solidFill>
            <a:srgbClr val="12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_apna_p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6720840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1965960"/>
            <a:ext cx="3794760" cy="3246120"/>
          </a:xfrm>
          <a:prstGeom prst="roundRect">
            <a:avLst/>
          </a:prstGeom>
          <a:solidFill>
            <a:srgbClr val="F2F7F8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35240" y="2075688"/>
            <a:ext cx="54864" cy="3026663"/>
          </a:xfrm>
          <a:prstGeom prst="rect">
            <a:avLst/>
          </a:prstGeom>
          <a:solidFill>
            <a:srgbClr val="E6A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36408" y="2148840"/>
            <a:ext cx="34107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142740"/>
                </a:solidFill>
                <a:latin typeface="Aptos"/>
              </a:defRPr>
            </a:pPr>
            <a:r>
              <a:t>Administrative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2624328"/>
            <a:ext cx="3410712" cy="24780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263240"/>
                </a:solidFill>
                <a:latin typeface="Aptos"/>
              </a:defRPr>
            </a:pPr>
            <a:r>
              <a:t>• Review pending listings</a:t>
            </a:r>
          </a:p>
          <a:p>
            <a:pPr algn="l">
              <a:spcAft>
                <a:spcPts val="600"/>
              </a:spcAft>
              <a:defRPr sz="1300" b="0" i="0">
                <a:solidFill>
                  <a:srgbClr val="263240"/>
                </a:solidFill>
                <a:latin typeface="Aptos"/>
              </a:defRPr>
            </a:pPr>
            <a:r>
              <a:t>• Approve or reject submissions</a:t>
            </a:r>
          </a:p>
          <a:p>
            <a:pPr algn="l">
              <a:spcAft>
                <a:spcPts val="600"/>
              </a:spcAft>
              <a:defRPr sz="1300" b="0" i="0">
                <a:solidFill>
                  <a:srgbClr val="263240"/>
                </a:solidFill>
                <a:latin typeface="Aptos"/>
              </a:defRPr>
            </a:pPr>
            <a:r>
              <a:t>• Inspect property and manager details</a:t>
            </a:r>
          </a:p>
          <a:p>
            <a:pPr algn="l">
              <a:spcAft>
                <a:spcPts val="600"/>
              </a:spcAft>
              <a:defRPr sz="1300" b="0" i="0">
                <a:solidFill>
                  <a:srgbClr val="263240"/>
                </a:solidFill>
                <a:latin typeface="Aptos"/>
              </a:defRPr>
            </a:pPr>
            <a:r>
              <a:t>• Track status across the portfolio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000" b="1" i="0">
                <a:solidFill>
                  <a:srgbClr val="128B89"/>
                </a:solidFill>
                <a:latin typeface="Aptos"/>
              </a:defRPr>
            </a:pPr>
            <a:r>
              <a:t>07  •  TENANT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142740"/>
                </a:solidFill>
                <a:latin typeface="Aptos"/>
              </a:defRPr>
            </a:pPr>
            <a:r>
              <a:t>Tenant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637381"/>
                </a:solidFill>
                <a:latin typeface="Aptos"/>
              </a:defRPr>
            </a:pPr>
            <a:r>
              <a:t>Property information, price, time period and rental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  <a:defRPr sz="900" b="1" i="0">
                <a:solidFill>
                  <a:srgbClr val="637381"/>
                </a:solidFill>
                <a:latin typeface="Aptos"/>
              </a:defRPr>
            </a:pPr>
            <a:r>
              <a:t>APNA GHAR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86868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637381"/>
                </a:solidFill>
                <a:latin typeface="Aptos"/>
              </a:defRPr>
            </a:pPr>
            <a:r>
              <a:t>08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55680" cy="22860"/>
          </a:xfrm>
          <a:prstGeom prst="rect">
            <a:avLst/>
          </a:prstGeom>
          <a:solidFill>
            <a:srgbClr val="12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_apna_p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74519"/>
            <a:ext cx="10149840" cy="4"/>
          </a:xfrm>
          <a:prstGeom prst="rect">
            <a:avLst/>
          </a:prstGeom>
        </p:spPr>
      </p:pic>
      <p:pic>
        <p:nvPicPr>
          <p:cNvPr id="9" name="Picture 8" descr="WhatsApp Image 2026-10-15 at 10.08.08 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" y="1701799"/>
            <a:ext cx="6510867" cy="4377267"/>
          </a:xfrm>
          <a:prstGeom prst="rect">
            <a:avLst/>
          </a:prstGeom>
        </p:spPr>
      </p:pic>
      <p:pic>
        <p:nvPicPr>
          <p:cNvPr id="10" name="Picture 9" descr="WhatsApp Image 2026-10-15 at 10.08.08 PM (1)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867" y="1701798"/>
            <a:ext cx="5136217" cy="43772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000" b="1" i="0">
                <a:solidFill>
                  <a:srgbClr val="128B89"/>
                </a:solidFill>
                <a:latin typeface="Aptos"/>
              </a:defRPr>
            </a:pPr>
            <a:r>
              <a:t>08  • 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142740"/>
                </a:solidFill>
                <a:latin typeface="Aptos"/>
              </a:defRPr>
            </a:pPr>
            <a:r>
              <a:t>Tenant &amp; Manager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637381"/>
                </a:solidFill>
                <a:latin typeface="Aptos"/>
              </a:defRPr>
            </a:pPr>
            <a:r>
              <a:t>A dedicated messaging interface for stakeholder coordination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  <a:defRPr sz="900" b="1" i="0">
                <a:solidFill>
                  <a:srgbClr val="637381"/>
                </a:solidFill>
                <a:latin typeface="Aptos"/>
              </a:defRPr>
            </a:pPr>
            <a:r>
              <a:t>APNA GHAR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86868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637381"/>
                </a:solidFill>
                <a:latin typeface="Aptos"/>
              </a:defRPr>
            </a:pPr>
            <a:r>
              <a:t>09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55680" cy="22860"/>
          </a:xfrm>
          <a:prstGeom prst="rect">
            <a:avLst/>
          </a:prstGeom>
          <a:solidFill>
            <a:srgbClr val="12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_apna_p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6675120" cy="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2103120"/>
            <a:ext cx="3794760" cy="2377440"/>
          </a:xfrm>
          <a:prstGeom prst="roundRect">
            <a:avLst/>
          </a:prstGeom>
          <a:solidFill>
            <a:srgbClr val="F2F7F8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35240" y="2212848"/>
            <a:ext cx="54864" cy="2157984"/>
          </a:xfrm>
          <a:prstGeom prst="rect">
            <a:avLst/>
          </a:prstGeom>
          <a:solidFill>
            <a:srgbClr val="12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36408" y="2286000"/>
            <a:ext cx="34107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142740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2761487"/>
            <a:ext cx="3410712" cy="16093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263240"/>
                </a:solidFill>
                <a:latin typeface="Aptos"/>
              </a:defRPr>
            </a:pPr>
            <a:r>
              <a:t>Keep tenant questions and manager responses associated with the rental workflow.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263240"/>
                </a:solidFill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1300" b="0" i="0">
                <a:solidFill>
                  <a:srgbClr val="263240"/>
                </a:solidFill>
                <a:latin typeface="Aptos"/>
              </a:defRPr>
            </a:pPr>
            <a:r>
              <a:t>The demo shows the conversation interface; production delivery would require server-side message storage and access controls.</a:t>
            </a:r>
          </a:p>
        </p:txBody>
      </p:sp>
      <p:pic>
        <p:nvPicPr>
          <p:cNvPr id="13" name="Picture 12" descr="WhatsApp Image 2026-10-15 at 10.00.19 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360" y="1736981"/>
            <a:ext cx="6847840" cy="4338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000" b="1" i="0">
                <a:solidFill>
                  <a:srgbClr val="128B89"/>
                </a:solidFill>
                <a:latin typeface="Aptos"/>
              </a:defRPr>
            </a:pPr>
            <a:r>
              <a:t>09  •  PLATFORM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142740"/>
                </a:solidFill>
                <a:latin typeface="Aptos"/>
              </a:defRPr>
            </a:pPr>
            <a:r>
              <a:t>Activity monitoring &amp; user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637381"/>
                </a:solidFill>
                <a:latin typeface="Aptos"/>
              </a:defRPr>
            </a:pPr>
            <a:r>
              <a:t>Admin views support oversight of platform activity and user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  <a:defRPr sz="900" b="1" i="0">
                <a:solidFill>
                  <a:srgbClr val="637381"/>
                </a:solidFill>
                <a:latin typeface="Aptos"/>
              </a:defRPr>
            </a:pPr>
            <a:r>
              <a:t>APNA GHAR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86868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637381"/>
                </a:solidFill>
                <a:latin typeface="Aptos"/>
              </a:defRPr>
            </a:pPr>
            <a:r>
              <a:t>10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55680" cy="22860"/>
          </a:xfrm>
          <a:prstGeom prst="rect">
            <a:avLst/>
          </a:prstGeom>
          <a:solidFill>
            <a:srgbClr val="12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_apna_p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6675120" cy="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2011680"/>
            <a:ext cx="3794760" cy="1463040"/>
          </a:xfrm>
          <a:prstGeom prst="roundRect">
            <a:avLst/>
          </a:prstGeom>
          <a:solidFill>
            <a:srgbClr val="F2F7F8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35240" y="2121408"/>
            <a:ext cx="54864" cy="1243584"/>
          </a:xfrm>
          <a:prstGeom prst="rect">
            <a:avLst/>
          </a:prstGeom>
          <a:solidFill>
            <a:srgbClr val="12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36408" y="2194560"/>
            <a:ext cx="34107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142740"/>
                </a:solidFill>
                <a:latin typeface="Aptos"/>
              </a:defRPr>
            </a:pPr>
            <a:r>
              <a:t>Activity timeline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2670048"/>
            <a:ext cx="3410712" cy="6949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263240"/>
                </a:solidFill>
                <a:latin typeface="Aptos"/>
              </a:defRPr>
            </a:pPr>
            <a:r>
              <a:t>Review platform events and operational activity.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3749039"/>
            <a:ext cx="3794760" cy="1463040"/>
          </a:xfrm>
          <a:prstGeom prst="roundRect">
            <a:avLst/>
          </a:prstGeom>
          <a:solidFill>
            <a:srgbClr val="F2F7F8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35240" y="3858768"/>
            <a:ext cx="54864" cy="1243584"/>
          </a:xfrm>
          <a:prstGeom prst="rect">
            <a:avLst/>
          </a:prstGeom>
          <a:solidFill>
            <a:srgbClr val="E6A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8" y="3931920"/>
            <a:ext cx="34107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142740"/>
                </a:solidFill>
                <a:latin typeface="Aptos"/>
              </a:defRPr>
            </a:pPr>
            <a:r>
              <a:t>User / role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4407407"/>
            <a:ext cx="3410712" cy="6949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263240"/>
                </a:solidFill>
                <a:latin typeface="Aptos"/>
              </a:defRPr>
            </a:pPr>
            <a:r>
              <a:t>See users and their assigned stakeholder roles.</a:t>
            </a:r>
          </a:p>
        </p:txBody>
      </p:sp>
      <p:pic>
        <p:nvPicPr>
          <p:cNvPr id="17" name="Picture 16" descr="WhatsApp Image 2026-10-15 at 10.11.06 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786128"/>
            <a:ext cx="6606540" cy="41066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000" b="1" i="0">
                <a:solidFill>
                  <a:srgbClr val="128B89"/>
                </a:solidFill>
                <a:latin typeface="Aptos"/>
              </a:defRPr>
            </a:pPr>
            <a:r>
              <a:t>10  • 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142740"/>
                </a:solidFill>
                <a:latin typeface="Aptos"/>
              </a:defRPr>
            </a:pPr>
            <a:r>
              <a:t>Analytics &amp; portfolio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881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637381"/>
                </a:solidFill>
                <a:latin typeface="Aptos"/>
              </a:defRPr>
            </a:pPr>
            <a:r>
              <a:t>Illustrative dashboard views for revenue and property utilization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600"/>
              </a:spcAft>
              <a:defRPr sz="900" b="1" i="0">
                <a:solidFill>
                  <a:srgbClr val="637381"/>
                </a:solidFill>
                <a:latin typeface="Aptos"/>
              </a:defRPr>
            </a:pPr>
            <a:r>
              <a:t>APNA GHAR  •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86868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600"/>
              </a:spcAft>
              <a:defRPr sz="900" b="1" i="0">
                <a:solidFill>
                  <a:srgbClr val="637381"/>
                </a:solidFill>
                <a:latin typeface="Aptos"/>
              </a:defRPr>
            </a:pPr>
            <a:r>
              <a:t>11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55680" cy="22860"/>
          </a:xfrm>
          <a:prstGeom prst="rect">
            <a:avLst/>
          </a:prstGeom>
          <a:solidFill>
            <a:srgbClr val="12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_apna_p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6675120" cy="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1874519"/>
            <a:ext cx="3794760" cy="3337560"/>
          </a:xfrm>
          <a:prstGeom prst="roundRect">
            <a:avLst/>
          </a:prstGeom>
          <a:solidFill>
            <a:srgbClr val="F2F7F8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35240" y="1984248"/>
            <a:ext cx="54864" cy="3118104"/>
          </a:xfrm>
          <a:prstGeom prst="rect">
            <a:avLst/>
          </a:prstGeom>
          <a:solidFill>
            <a:srgbClr val="12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36408" y="2057400"/>
            <a:ext cx="341071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142740"/>
                </a:solidFill>
                <a:latin typeface="Aptos"/>
              </a:defRPr>
            </a:pPr>
            <a:r>
              <a:t>What the dashboard communicates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2532887"/>
            <a:ext cx="3410712" cy="25694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263240"/>
                </a:solidFill>
                <a:latin typeface="Aptos"/>
              </a:defRPr>
            </a:pPr>
            <a:r>
              <a:t>• Monthly rent volume trend</a:t>
            </a:r>
          </a:p>
          <a:p>
            <a:pPr algn="l">
              <a:spcAft>
                <a:spcPts val="600"/>
              </a:spcAft>
              <a:defRPr sz="1300" b="0" i="0">
                <a:solidFill>
                  <a:srgbClr val="263240"/>
                </a:solidFill>
                <a:latin typeface="Aptos"/>
              </a:defRPr>
            </a:pPr>
            <a:r>
              <a:t>• Current rent-roll figure</a:t>
            </a:r>
          </a:p>
          <a:p>
            <a:pPr algn="l">
              <a:spcAft>
                <a:spcPts val="600"/>
              </a:spcAft>
              <a:defRPr sz="1300" b="0" i="0">
                <a:solidFill>
                  <a:srgbClr val="263240"/>
                </a:solidFill>
                <a:latin typeface="Aptos"/>
              </a:defRPr>
            </a:pPr>
            <a:r>
              <a:t>• Platform commission calculation</a:t>
            </a:r>
          </a:p>
          <a:p>
            <a:pPr algn="l">
              <a:spcAft>
                <a:spcPts val="600"/>
              </a:spcAft>
              <a:defRPr sz="1300" b="0" i="0">
                <a:solidFill>
                  <a:srgbClr val="263240"/>
                </a:solidFill>
                <a:latin typeface="Aptos"/>
              </a:defRPr>
            </a:pPr>
            <a:r>
              <a:t>• Availability, leased and pending-review counts</a:t>
            </a:r>
          </a:p>
          <a:p>
            <a:pPr algn="l">
              <a:spcAft>
                <a:spcPts val="600"/>
              </a:spcAft>
              <a:defRPr sz="1300" b="0" i="0">
                <a:solidFill>
                  <a:srgbClr val="263240"/>
                </a:solidFill>
                <a:latin typeface="Aptos"/>
              </a:defRPr>
            </a:pPr>
            <a:r>
              <a:t>• Time-to-lease and application approval indicators</a:t>
            </a:r>
          </a:p>
        </p:txBody>
      </p:sp>
      <p:pic>
        <p:nvPicPr>
          <p:cNvPr id="13" name="Picture 12" descr="WhatsApp Image 2026-10-15 at 10.12.00 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" y="1635760"/>
            <a:ext cx="6985000" cy="2143760"/>
          </a:xfrm>
          <a:prstGeom prst="rect">
            <a:avLst/>
          </a:prstGeom>
        </p:spPr>
      </p:pic>
      <p:pic>
        <p:nvPicPr>
          <p:cNvPr id="14" name="Picture 13" descr="WhatsApp Image 2026-10-15 at 10.13.29 PM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780" y="3886327"/>
            <a:ext cx="7043420" cy="24320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94360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100" b="1" i="0">
                <a:solidFill>
                  <a:srgbClr val="E6AE4F"/>
                </a:solidFill>
                <a:latin typeface="Aptos"/>
              </a:defRPr>
            </a:pPr>
            <a:r>
              <a:t>APNA GHAR  •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5539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3000" b="1" i="0">
                <a:solidFill>
                  <a:srgbClr val="FFFFFF"/>
                </a:solidFill>
                <a:latin typeface="Aptos"/>
              </a:defRPr>
            </a:pPr>
            <a:r>
              <a:rPr dirty="0"/>
              <a:t>Conclusion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424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600" b="0" i="0">
                <a:solidFill>
                  <a:srgbClr val="DEE8EF"/>
                </a:solidFill>
                <a:latin typeface="Aptos"/>
              </a:defRPr>
            </a:pPr>
            <a:r>
              <a:t>Apna Ghar brings the core property-rental workflow into one role-oriented interface.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5212080" cy="1965960"/>
          </a:xfrm>
          <a:prstGeom prst="roundRect">
            <a:avLst/>
          </a:prstGeom>
          <a:solidFill>
            <a:srgbClr val="F2F7F8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670048"/>
            <a:ext cx="54864" cy="1746504"/>
          </a:xfrm>
          <a:prstGeom prst="rect">
            <a:avLst/>
          </a:prstGeom>
          <a:solidFill>
            <a:srgbClr val="12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743200"/>
            <a:ext cx="48280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142740"/>
                </a:solidFill>
                <a:latin typeface="Aptos"/>
              </a:defRPr>
            </a:pPr>
            <a:r>
              <a:t>Implemented in the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218687"/>
            <a:ext cx="4828032" cy="11978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300" b="0" i="0">
                <a:solidFill>
                  <a:srgbClr val="263240"/>
                </a:solidFill>
                <a:latin typeface="Aptos"/>
              </a:defRPr>
            </a:pPr>
            <a:r>
              <a:t>Role dashboards, listing management UI, auth/registration UI, communication UI, admin settings and analytics-style 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60320"/>
            <a:ext cx="5212080" cy="1965960"/>
          </a:xfrm>
          <a:prstGeom prst="roundRect">
            <a:avLst/>
          </a:prstGeom>
          <a:solidFill>
            <a:srgbClr val="F2F7F8"/>
          </a:solidFill>
          <a:ln>
            <a:solidFill>
              <a:srgbClr val="DA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2670048"/>
            <a:ext cx="54864" cy="1746504"/>
          </a:xfrm>
          <a:prstGeom prst="rect">
            <a:avLst/>
          </a:prstGeom>
          <a:solidFill>
            <a:srgbClr val="E6A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2743200"/>
            <a:ext cx="48280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142740"/>
                </a:solidFill>
                <a:latin typeface="Aptos"/>
              </a:defRPr>
            </a:pPr>
            <a:r>
              <a:t>Next development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3218687"/>
            <a:ext cx="4828032" cy="11978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263240"/>
                </a:solidFill>
                <a:latin typeface="Aptos"/>
              </a:defRPr>
            </a:pPr>
            <a:r>
              <a:t>Java backend + Servlets/API, JDBC with MySQL, secure password hashing, persistent user/listing records, real authorization, automated tests and deployment.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8348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000" b="1" i="0">
                <a:solidFill>
                  <a:srgbClr val="E6AE4F"/>
                </a:solidFill>
                <a:latin typeface="Aptos"/>
              </a:defRPr>
            </a:pPr>
            <a:r>
              <a:t>TECHNICAL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8"/>
            <a:ext cx="102412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DEE8EF"/>
                </a:solidFill>
                <a:latin typeface="Aptos"/>
              </a:defRPr>
            </a:pPr>
            <a:r>
              <a:t>This presentation describes the current React/TypeScript prototype. Java, JDBC, Servlets and MySQL should only be claimed after they are implemented and tested.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7477" y="6126480"/>
            <a:ext cx="7870613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  <a:defRPr sz="2000" b="1" i="0">
                <a:solidFill>
                  <a:srgbClr val="E6AE4F"/>
                </a:solidFill>
                <a:latin typeface="Aptos"/>
              </a:defRPr>
            </a:pPr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14</TotalTime>
  <Words>776</Words>
  <Application>Microsoft Office PowerPoint</Application>
  <PresentationFormat>Custom</PresentationFormat>
  <Paragraphs>140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Flow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2026-10-15T16:47:01Z</dcterms:modified>
  <cp:category/>
</cp:coreProperties>
</file>